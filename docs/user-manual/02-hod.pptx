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2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77190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8E8"/>
                </a:solidFill>
              </a:rPr>
              <a:t>KSB ZAMBIA  ·  PURCHASE REQUISITION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111831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User Manual</a:t>
            </a:r>
          </a:p>
        </p:txBody>
      </p:sp>
      <p:sp>
        <p:nvSpPr>
          <p:cNvPr id="8" name="Rectangle 7"/>
          <p:cNvSpPr/>
          <p:nvPr/>
        </p:nvSpPr>
        <p:spPr>
          <a:xfrm>
            <a:off x="3579876" y="2606040"/>
            <a:ext cx="502920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0B4A8A"/>
                </a:solidFill>
              </a:rPr>
              <a:t>Role 2 — Head of Department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520440"/>
            <a:ext cx="11183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0C8E8"/>
                </a:solidFill>
              </a:rPr>
              <a:t>First-stage approver for your department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4389120"/>
            <a:ext cx="6400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8AB4D8"/>
                </a:solidFill>
              </a:rPr>
              <a:t>Approval stage:  </a:t>
            </a:r>
            <a:r>
              <a:rPr sz="1100">
                <a:solidFill>
                  <a:srgbClr val="D0E3F2"/>
                </a:solidFill>
              </a:rPr>
              <a:t>Stage 1 of 3 (PRs) / Stage 1 of 2 (EFT, PC, EC, Issue Slips)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4690872"/>
            <a:ext cx="6400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8AB4D8"/>
                </a:solidFill>
              </a:rPr>
              <a:t>Target turnaround:  </a:t>
            </a:r>
            <a:r>
              <a:rPr sz="1100">
                <a:solidFill>
                  <a:srgbClr val="D0E3F2"/>
                </a:solidFill>
              </a:rPr>
              <a:t>48 hours for PRs; same day for Petty Cash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Who You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54543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4A8A"/>
                </a:solidFill>
              </a:rPr>
              <a:t>You CAN: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5454396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See every request from your department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Approve / reject PRs, EFTs, Petty Cash, Expense Claims, Issue Slips at Stage 1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Initiate your own requests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View department spend summaries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067044" y="1188720"/>
            <a:ext cx="27432" cy="5349240"/>
          </a:xfrm>
          <a:prstGeom prst="rect">
            <a:avLst/>
          </a:prstGeom>
          <a:solidFill>
            <a:srgbClr val="CCDD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31636" y="1188720"/>
            <a:ext cx="54543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4A8A"/>
                </a:solidFill>
              </a:rPr>
              <a:t>You CANNOT: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1636" y="1554480"/>
            <a:ext cx="5454396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Approve requests from other departments you don't head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Approve your own initiated requests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Skip the Finance stage — your approval passes to Finance, not around it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Modify amounts or items — reject with a comment instead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Workflow — Your Position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5349240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10634472" cy="4983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111111"/>
                </a:solidFill>
                <a:latin typeface="Consolas"/>
              </a:rPr>
              <a:t>  [Initiator submits]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|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v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+---------------------------+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|  STATUS = pending_hod     |  &lt;-- your queue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|  Your name = the approver |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+---------------------------+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|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approve / reject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|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+------+------+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|             |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v             v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pending_finance  rejected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(Finance reviews;  (initiator sees comment)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Procurement gains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read-only visibility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via Incoming PRs)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Task: Find &amp; Review a Request</a:t>
            </a:r>
          </a:p>
        </p:txBody>
      </p:sp>
      <p:sp>
        <p:nvSpPr>
          <p:cNvPr id="4" name="Oval 3"/>
          <p:cNvSpPr/>
          <p:nvPr/>
        </p:nvSpPr>
        <p:spPr>
          <a:xfrm>
            <a:off x="502920" y="1243584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" y="1188720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Dashboard: check the Pending Approvals card for your count.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810512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" y="1755648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Sidebar → Procurement → Pending Approvals (for PRs).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2377440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2322576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Sidebar → Financial Forms → Pending Approvals (for EFT / PC / EC).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2944368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" y="2889504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Sidebar → Stores → Issue Slips, filter by pending_hod (for Issue Slips).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3511296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" y="3456432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Click a row to open the detail page.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4078224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" y="4023360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Check: initiator is in your dept, items and quantities are reasonable, justification answers 'why now', quote is attached for high-value items.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Approve vs Reject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54543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4A8A"/>
                </a:solidFill>
              </a:rPr>
              <a:t>To Approve: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5454396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Scroll to the Comments box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Write a short meaningful comment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Click the green Approve button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Status moves to pending_finance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Finance is notified by email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Procurement gains read-only view of the PR immediately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4A8A"/>
                </a:solidFill>
              </a:rPr>
              <a:t>Target turnaround: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PRs / Expense Claims: 48 hours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EFT: 24 hours (time-sensitive)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Petty Cash: same day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Issue Slips: 24 hours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067044" y="1188720"/>
            <a:ext cx="27432" cy="5349240"/>
          </a:xfrm>
          <a:prstGeom prst="rect">
            <a:avLst/>
          </a:prstGeom>
          <a:solidFill>
            <a:srgbClr val="CCDD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31636" y="1188720"/>
            <a:ext cx="54543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4A8A"/>
                </a:solidFill>
              </a:rPr>
              <a:t>To Reject: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1636" y="1554480"/>
            <a:ext cx="5454396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Write a specific rejection reason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Examples:</a:t>
            </a:r>
          </a:p>
          <a:p>
            <a:pPr lvl="1">
              <a:spcBef>
                <a:spcPts val="100"/>
              </a:spcBef>
            </a:pPr>
            <a:r>
              <a:rPr sz="1200">
                <a:solidFill>
                  <a:srgbClr val="555555"/>
                </a:solidFill>
              </a:rPr>
              <a:t>'Quote required for purchases above K5,000.'</a:t>
            </a:r>
          </a:p>
          <a:p>
            <a:pPr lvl="1">
              <a:spcBef>
                <a:spcPts val="100"/>
              </a:spcBef>
            </a:pPr>
            <a:r>
              <a:rPr sz="1200">
                <a:solidFill>
                  <a:srgbClr val="555555"/>
                </a:solidFill>
              </a:rPr>
              <a:t>'Wrong department — should come from IT.'</a:t>
            </a:r>
          </a:p>
          <a:p>
            <a:pPr lvl="1">
              <a:spcBef>
                <a:spcPts val="100"/>
              </a:spcBef>
            </a:pPr>
            <a:r>
              <a:rPr sz="1200">
                <a:solidFill>
                  <a:srgbClr val="555555"/>
                </a:solidFill>
              </a:rPr>
              <a:t>'Quantity 50 seems excessive for a 10-person team.'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Click the red Reject button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Initiator is notified with your comment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4A8A"/>
                </a:solidFill>
              </a:rPr>
              <a:t>Avoid vague reasons like 'unclear' — the initiator cannot fix those.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Your Pre-Approval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11183112" cy="5440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Request belongs to someone in my department or a direct subordinate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Items and quantities make sense for the work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Prices are reasonable — compare to known costs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Justification clearly answers: What? Why now? Why this supplier?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Quote is attached for higher-value items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Department is correctly set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I have left a clear, specific comment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4A8A"/>
                </a:solidFill>
              </a:rPr>
              <a:t>Going on leave? Tell Admin before you go — they can reassign your queue.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2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194560"/>
            <a:ext cx="111831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</a:rPr>
              <a:t>Refer to your role manual for full detail.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AB4D8"/>
                </a:solidFill>
              </a:rPr>
              <a:t>Role 2 — Head of Department  ·  KSB Zambia Purchase Requisition System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