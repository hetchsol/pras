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62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3771900"/>
          </a:xfrm>
          <a:prstGeom prst="rect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14400"/>
            <a:ext cx="111831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B0C8E8"/>
                </a:solidFill>
              </a:rPr>
              <a:t>KSB ZAMBIA  ·  PURCHASE REQUISITION 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463040"/>
            <a:ext cx="1118311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</a:rPr>
              <a:t>User Manual</a:t>
            </a:r>
          </a:p>
        </p:txBody>
      </p:sp>
      <p:sp>
        <p:nvSpPr>
          <p:cNvPr id="8" name="Rectangle 7"/>
          <p:cNvSpPr/>
          <p:nvPr/>
        </p:nvSpPr>
        <p:spPr>
          <a:xfrm>
            <a:off x="3579876" y="2606040"/>
            <a:ext cx="5029200" cy="685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200" b="1">
                <a:solidFill>
                  <a:srgbClr val="0B4A8A"/>
                </a:solidFill>
              </a:rPr>
              <a:t>Role 1 — Initiator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520440"/>
            <a:ext cx="1118311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B0C8E8"/>
                </a:solidFill>
              </a:rPr>
              <a:t>Submit requisitions, EFTs, petty cash, and expense claims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0" y="4389120"/>
            <a:ext cx="64008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>
                <a:solidFill>
                  <a:srgbClr val="8AB4D8"/>
                </a:solidFill>
              </a:rPr>
              <a:t>Approval role:  </a:t>
            </a:r>
            <a:r>
              <a:rPr sz="1100">
                <a:solidFill>
                  <a:srgbClr val="D0E3F2"/>
                </a:solidFill>
              </a:rPr>
              <a:t>None — you create, not approve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4690872"/>
            <a:ext cx="64008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>
                <a:solidFill>
                  <a:srgbClr val="8AB4D8"/>
                </a:solidFill>
              </a:rPr>
              <a:t>Key actions:  </a:t>
            </a:r>
            <a:r>
              <a:rPr sz="1100">
                <a:solidFill>
                  <a:srgbClr val="D0E3F2"/>
                </a:solidFill>
              </a:rPr>
              <a:t>Create PRs, EFTs, Petty Cash, Expense Claims; track status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311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Who You 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188720"/>
            <a:ext cx="545439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B4A8A"/>
                </a:solidFill>
              </a:rPr>
              <a:t>You CAN: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54480"/>
            <a:ext cx="5454396" cy="5074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Create Purchase Requisitions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Create EFT Requisitions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Create Petty Cash requests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Create Expense Claims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View status of your own requests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Download PDF of any submission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6067044" y="1188720"/>
            <a:ext cx="27432" cy="5349240"/>
          </a:xfrm>
          <a:prstGeom prst="rect">
            <a:avLst/>
          </a:prstGeom>
          <a:solidFill>
            <a:srgbClr val="CCDD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31636" y="1188720"/>
            <a:ext cx="545439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B4A8A"/>
                </a:solidFill>
              </a:rPr>
              <a:t>You CANNOT: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31636" y="1554480"/>
            <a:ext cx="5454396" cy="5074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Approve or reject any request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See other people's requests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Edit a submitted request</a:t>
            </a:r>
          </a:p>
          <a:p>
            <a:pPr lvl="1">
              <a:spcBef>
                <a:spcPts val="100"/>
              </a:spcBef>
            </a:pPr>
            <a:r>
              <a:rPr sz="1200">
                <a:solidFill>
                  <a:srgbClr val="555555"/>
                </a:solidFill>
              </a:rPr>
              <a:t>If wrong: ask an approver to reject, then resubmit as new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311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Approval Workflows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88720"/>
            <a:ext cx="11183112" cy="5349240"/>
          </a:xfrm>
          <a:prstGeom prst="rect">
            <a:avLst/>
          </a:prstGeom>
          <a:solidFill>
            <a:srgbClr val="EAF2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371600"/>
            <a:ext cx="10634472" cy="4983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111111"/>
                </a:solidFill>
                <a:latin typeface="Consolas"/>
              </a:rPr>
              <a:t>Purchase Requisition:</a:t>
            </a:r>
          </a:p>
          <a:p>
            <a:r>
              <a:rPr sz="1200">
                <a:solidFill>
                  <a:srgbClr val="111111"/>
                </a:solidFill>
                <a:latin typeface="Consolas"/>
              </a:rPr>
              <a:t>  [You] --&gt; pending_hod --&gt; pending_finance --&gt; pending_md* --&gt; approved</a:t>
            </a:r>
          </a:p>
          <a:p>
            <a:r>
              <a:rPr sz="1200">
                <a:solidFill>
                  <a:srgbClr val="111111"/>
                </a:solidFill>
                <a:latin typeface="Consolas"/>
              </a:rPr>
              <a:t>                                  |</a:t>
            </a:r>
          </a:p>
          <a:p>
            <a:r>
              <a:rPr sz="1200">
                <a:solidFill>
                  <a:srgbClr val="111111"/>
                </a:solidFill>
                <a:latin typeface="Consolas"/>
              </a:rPr>
              <a:t>                         Procurement sees your PR here (read-only)</a:t>
            </a:r>
          </a:p>
          <a:p>
            <a:r>
              <a:rPr sz="1200">
                <a:solidFill>
                  <a:srgbClr val="111111"/>
                </a:solidFill>
                <a:latin typeface="Consolas"/>
              </a:rPr>
              <a:t>                         and may already be contacting suppliers</a:t>
            </a:r>
          </a:p>
          <a:p>
            <a:r>
              <a:rPr sz="1200">
                <a:solidFill>
                  <a:srgbClr val="111111"/>
                </a:solidFill>
                <a:latin typeface="Consolas"/>
              </a:rPr>
              <a:t/>
            </a:r>
          </a:p>
          <a:p>
            <a:r>
              <a:rPr sz="1200">
                <a:solidFill>
                  <a:srgbClr val="111111"/>
                </a:solidFill>
                <a:latin typeface="Consolas"/>
              </a:rPr>
              <a:t>  * Only if value exceeds MD threshold.</a:t>
            </a:r>
          </a:p>
          <a:p>
            <a:r>
              <a:rPr sz="1200">
                <a:solidFill>
                  <a:srgbClr val="111111"/>
                </a:solidFill>
                <a:latin typeface="Consolas"/>
              </a:rPr>
              <a:t/>
            </a:r>
          </a:p>
          <a:p>
            <a:r>
              <a:rPr sz="1200">
                <a:solidFill>
                  <a:srgbClr val="111111"/>
                </a:solidFill>
                <a:latin typeface="Consolas"/>
              </a:rPr>
              <a:t>EFT / Petty Cash / Expense Claim:</a:t>
            </a:r>
          </a:p>
          <a:p>
            <a:r>
              <a:rPr sz="1200">
                <a:solidFill>
                  <a:srgbClr val="111111"/>
                </a:solidFill>
                <a:latin typeface="Consolas"/>
              </a:rPr>
              <a:t>  [You] --&gt; pending_hod --&gt; pending_finance --&gt; approved</a:t>
            </a:r>
          </a:p>
          <a:p>
            <a:r>
              <a:rPr sz="1200">
                <a:solidFill>
                  <a:srgbClr val="111111"/>
                </a:solidFill>
                <a:latin typeface="Consolas"/>
              </a:rPr>
              <a:t>  (MD is NOT in this chain.)</a:t>
            </a:r>
          </a:p>
          <a:p>
            <a:r>
              <a:rPr sz="1200">
                <a:solidFill>
                  <a:srgbClr val="111111"/>
                </a:solidFill>
                <a:latin typeface="Consolas"/>
              </a:rPr>
              <a:t/>
            </a:r>
          </a:p>
          <a:p>
            <a:r>
              <a:rPr sz="1200">
                <a:solidFill>
                  <a:srgbClr val="111111"/>
                </a:solidFill>
                <a:latin typeface="Consolas"/>
              </a:rPr>
              <a:t>On rejection at any stage:</a:t>
            </a:r>
          </a:p>
          <a:p>
            <a:r>
              <a:rPr sz="1200">
                <a:solidFill>
                  <a:srgbClr val="111111"/>
                </a:solidFill>
                <a:latin typeface="Consolas"/>
              </a:rPr>
              <a:t>  --&gt; rejected  (you are notified by email with the reason)</a:t>
            </a:r>
          </a:p>
          <a:p>
            <a:r>
              <a:rPr sz="1200">
                <a:solidFill>
                  <a:srgbClr val="111111"/>
                </a:solidFill>
                <a:latin typeface="Consolas"/>
              </a:rPr>
              <a:t>  You must create a new submission — you cannot edit the rejected one.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311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Task: Create a Purchase Requisition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188720"/>
            <a:ext cx="111831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555555"/>
                </a:solidFill>
              </a:rPr>
              <a:t>ID format: KSB-PR-&lt;timestamp&gt;</a:t>
            </a:r>
          </a:p>
        </p:txBody>
      </p:sp>
      <p:sp>
        <p:nvSpPr>
          <p:cNvPr id="5" name="Oval 4"/>
          <p:cNvSpPr/>
          <p:nvPr/>
        </p:nvSpPr>
        <p:spPr>
          <a:xfrm>
            <a:off x="502920" y="1591056"/>
            <a:ext cx="411480" cy="411480"/>
          </a:xfrm>
          <a:prstGeom prst="ellipse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" y="1536192"/>
            <a:ext cx="106344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11111"/>
                </a:solidFill>
              </a:rPr>
              <a:t>Sidebar → Procurement → Create Requisition.</a:t>
            </a:r>
          </a:p>
        </p:txBody>
      </p:sp>
      <p:sp>
        <p:nvSpPr>
          <p:cNvPr id="7" name="Oval 6"/>
          <p:cNvSpPr/>
          <p:nvPr/>
        </p:nvSpPr>
        <p:spPr>
          <a:xfrm>
            <a:off x="502920" y="2157984"/>
            <a:ext cx="411480" cy="411480"/>
          </a:xfrm>
          <a:prstGeom prst="ellipse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" y="2103120"/>
            <a:ext cx="106344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11111"/>
                </a:solidFill>
              </a:rPr>
              <a:t>Fill the header: Title, Description, Department, Delivery Location, Required Date, Currency.</a:t>
            </a:r>
          </a:p>
        </p:txBody>
      </p:sp>
      <p:sp>
        <p:nvSpPr>
          <p:cNvPr id="9" name="Oval 8"/>
          <p:cNvSpPr/>
          <p:nvPr/>
        </p:nvSpPr>
        <p:spPr>
          <a:xfrm>
            <a:off x="502920" y="2724912"/>
            <a:ext cx="411480" cy="411480"/>
          </a:xfrm>
          <a:prstGeom prst="ellipse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" y="2670048"/>
            <a:ext cx="106344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11111"/>
                </a:solidFill>
              </a:rPr>
              <a:t>Click Add Item for each item: Name, Quantity, Unit, Estimated Unit Price.</a:t>
            </a:r>
          </a:p>
        </p:txBody>
      </p:sp>
      <p:sp>
        <p:nvSpPr>
          <p:cNvPr id="11" name="Oval 10"/>
          <p:cNvSpPr/>
          <p:nvPr/>
        </p:nvSpPr>
        <p:spPr>
          <a:xfrm>
            <a:off x="502920" y="3291840"/>
            <a:ext cx="411480" cy="411480"/>
          </a:xfrm>
          <a:prstGeom prst="ellipse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3272" y="3236976"/>
            <a:ext cx="106344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11111"/>
                </a:solidFill>
              </a:rPr>
              <a:t>Fill the Justification box — be specific. Vague requests are frequently rejected.</a:t>
            </a:r>
          </a:p>
        </p:txBody>
      </p:sp>
      <p:sp>
        <p:nvSpPr>
          <p:cNvPr id="13" name="Oval 12"/>
          <p:cNvSpPr/>
          <p:nvPr/>
        </p:nvSpPr>
        <p:spPr>
          <a:xfrm>
            <a:off x="502920" y="3858768"/>
            <a:ext cx="411480" cy="411480"/>
          </a:xfrm>
          <a:prstGeom prst="ellipse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" y="3803904"/>
            <a:ext cx="106344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11111"/>
                </a:solidFill>
              </a:rPr>
              <a:t>Attach a supplier quote (PDF / image, max 10 MB) if you have one.</a:t>
            </a:r>
          </a:p>
        </p:txBody>
      </p:sp>
      <p:sp>
        <p:nvSpPr>
          <p:cNvPr id="15" name="Oval 14"/>
          <p:cNvSpPr/>
          <p:nvPr/>
        </p:nvSpPr>
        <p:spPr>
          <a:xfrm>
            <a:off x="502920" y="4425696"/>
            <a:ext cx="411480" cy="411480"/>
          </a:xfrm>
          <a:prstGeom prst="ellipse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" y="4370832"/>
            <a:ext cx="106344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11111"/>
                </a:solidFill>
              </a:rPr>
              <a:t>Review everything, then click Submit.</a:t>
            </a:r>
          </a:p>
        </p:txBody>
      </p:sp>
      <p:sp>
        <p:nvSpPr>
          <p:cNvPr id="17" name="Oval 16"/>
          <p:cNvSpPr/>
          <p:nvPr/>
        </p:nvSpPr>
        <p:spPr>
          <a:xfrm>
            <a:off x="502920" y="4992624"/>
            <a:ext cx="411480" cy="411480"/>
          </a:xfrm>
          <a:prstGeom prst="ellipse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" y="4937760"/>
            <a:ext cx="106344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11111"/>
                </a:solidFill>
              </a:rPr>
              <a:t>Status becomes pending_hod. Your HOD receives an email.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311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Other Form Types — Quick Start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188720"/>
            <a:ext cx="11183112" cy="5440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400" b="1">
                <a:solidFill>
                  <a:srgbClr val="0B4A8A"/>
                </a:solidFill>
              </a:rPr>
              <a:t>EFT Requisition (pay a supplier by bank transfer)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Sidebar → Financial Forms → EFT Requisitions → Create New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Fill payee name, bank, account number, amount, purpose, attach invoice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ID: KSB-EFT-…</a:t>
            </a:r>
          </a:p>
          <a:p>
            <a:pPr>
              <a:spcBef>
                <a:spcPts val="600"/>
              </a:spcBef>
            </a:pPr>
            <a:r>
              <a:rPr sz="1400" b="1">
                <a:solidFill>
                  <a:srgbClr val="0B4A8A"/>
                </a:solidFill>
              </a:rPr>
              <a:t>Petty Cash (draw small cash)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Sidebar → Financial Forms → Petty Cash → Create New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Fill amount, purpose, itemised breakdown, required date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ID: KSB-PC-…</a:t>
            </a:r>
          </a:p>
          <a:p>
            <a:pPr>
              <a:spcBef>
                <a:spcPts val="600"/>
              </a:spcBef>
            </a:pPr>
            <a:r>
              <a:rPr sz="1400" b="1">
                <a:solidFill>
                  <a:srgbClr val="0B4A8A"/>
                </a:solidFill>
              </a:rPr>
              <a:t>Expense Claim (reimbursement)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Sidebar → Financial Forms → Expense Claims → Create New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Add one line per expense: date, category, description, amount, receipt photo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ID: KSB-EXP-…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311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Task: Track Requests &amp; Handle Rejections</a:t>
            </a:r>
          </a:p>
        </p:txBody>
      </p:sp>
      <p:sp>
        <p:nvSpPr>
          <p:cNvPr id="4" name="Oval 3"/>
          <p:cNvSpPr/>
          <p:nvPr/>
        </p:nvSpPr>
        <p:spPr>
          <a:xfrm>
            <a:off x="502920" y="1243584"/>
            <a:ext cx="411480" cy="411480"/>
          </a:xfrm>
          <a:prstGeom prst="ellipse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" y="1188720"/>
            <a:ext cx="106344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11111"/>
                </a:solidFill>
              </a:rPr>
              <a:t>Open the relevant list: Procurement → My Requisitions, or Financial Forms → the form type.</a:t>
            </a:r>
          </a:p>
        </p:txBody>
      </p:sp>
      <p:sp>
        <p:nvSpPr>
          <p:cNvPr id="6" name="Oval 5"/>
          <p:cNvSpPr/>
          <p:nvPr/>
        </p:nvSpPr>
        <p:spPr>
          <a:xfrm>
            <a:off x="502920" y="1810512"/>
            <a:ext cx="411480" cy="411480"/>
          </a:xfrm>
          <a:prstGeom prst="ellipse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" y="1755648"/>
            <a:ext cx="106344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11111"/>
                </a:solidFill>
              </a:rPr>
              <a:t>Read the Status column: pending_hod / pending_finance / pending_md / approved / rejected.</a:t>
            </a:r>
          </a:p>
        </p:txBody>
      </p:sp>
      <p:sp>
        <p:nvSpPr>
          <p:cNvPr id="8" name="Oval 7"/>
          <p:cNvSpPr/>
          <p:nvPr/>
        </p:nvSpPr>
        <p:spPr>
          <a:xfrm>
            <a:off x="502920" y="2377440"/>
            <a:ext cx="411480" cy="411480"/>
          </a:xfrm>
          <a:prstGeom prst="ellipse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2" y="2322576"/>
            <a:ext cx="106344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11111"/>
                </a:solidFill>
              </a:rPr>
              <a:t>-- At pending_finance: Procurement can already see your PR and may be sourcing quotes.</a:t>
            </a:r>
          </a:p>
        </p:txBody>
      </p:sp>
      <p:sp>
        <p:nvSpPr>
          <p:cNvPr id="10" name="Oval 9"/>
          <p:cNvSpPr/>
          <p:nvPr/>
        </p:nvSpPr>
        <p:spPr>
          <a:xfrm>
            <a:off x="502920" y="2944368"/>
            <a:ext cx="411480" cy="411480"/>
          </a:xfrm>
          <a:prstGeom prst="ellipse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272" y="2889504"/>
            <a:ext cx="106344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11111"/>
                </a:solidFill>
              </a:rPr>
              <a:t>Click any row to open the full detail page and Approval History.</a:t>
            </a:r>
          </a:p>
        </p:txBody>
      </p:sp>
      <p:sp>
        <p:nvSpPr>
          <p:cNvPr id="12" name="Oval 11"/>
          <p:cNvSpPr/>
          <p:nvPr/>
        </p:nvSpPr>
        <p:spPr>
          <a:xfrm>
            <a:off x="502920" y="3511296"/>
            <a:ext cx="411480" cy="411480"/>
          </a:xfrm>
          <a:prstGeom prst="ellipse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" y="3456432"/>
            <a:ext cx="106344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11111"/>
                </a:solidFill>
              </a:rPr>
              <a:t>If rejected: read the rejection comment in Approval History.</a:t>
            </a:r>
          </a:p>
        </p:txBody>
      </p:sp>
      <p:sp>
        <p:nvSpPr>
          <p:cNvPr id="14" name="Oval 13"/>
          <p:cNvSpPr/>
          <p:nvPr/>
        </p:nvSpPr>
        <p:spPr>
          <a:xfrm>
            <a:off x="502920" y="4078224"/>
            <a:ext cx="411480" cy="411480"/>
          </a:xfrm>
          <a:prstGeom prst="ellipse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" y="4023360"/>
            <a:ext cx="106344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11111"/>
                </a:solidFill>
              </a:rPr>
              <a:t>Create a new corrected submission. In the description, reference the rejected ID.</a:t>
            </a:r>
          </a:p>
        </p:txBody>
      </p:sp>
      <p:sp>
        <p:nvSpPr>
          <p:cNvPr id="16" name="Oval 15"/>
          <p:cNvSpPr/>
          <p:nvPr/>
        </p:nvSpPr>
        <p:spPr>
          <a:xfrm>
            <a:off x="502920" y="4645152"/>
            <a:ext cx="411480" cy="411480"/>
          </a:xfrm>
          <a:prstGeom prst="ellipse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" y="4590288"/>
            <a:ext cx="106344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11111"/>
                </a:solidFill>
              </a:rPr>
              <a:t>Do NOT resubmit without fixing the issue — repeated unchanged submissions damage trust.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62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194560"/>
            <a:ext cx="1118311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FFFFFF"/>
                </a:solidFill>
              </a:rPr>
              <a:t>Refer to your role manual for full detail.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291840"/>
            <a:ext cx="111831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8AB4D8"/>
                </a:solidFill>
              </a:rPr>
              <a:t>Role 1 — Initiator  ·  KSB Zambia Purchase Requisition System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