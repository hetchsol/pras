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62E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3771900"/>
          </a:xfrm>
          <a:prstGeom prst="rect">
            <a:avLst/>
          </a:prstGeom>
          <a:solidFill>
            <a:srgbClr val="0B4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84848"/>
            <a:ext cx="12188952" cy="731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914400"/>
            <a:ext cx="1118311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B0C8E8"/>
                </a:solidFill>
              </a:rPr>
              <a:t>KSB ZAMBIA  ·  PURCHASE REQUISITION SYSTEM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463040"/>
            <a:ext cx="11183112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0" b="1" i="0">
                <a:solidFill>
                  <a:srgbClr val="FFFFFF"/>
                </a:solidFill>
              </a:rPr>
              <a:t>User Manual</a:t>
            </a:r>
          </a:p>
        </p:txBody>
      </p:sp>
      <p:sp>
        <p:nvSpPr>
          <p:cNvPr id="8" name="Rectangle 7"/>
          <p:cNvSpPr/>
          <p:nvPr/>
        </p:nvSpPr>
        <p:spPr>
          <a:xfrm>
            <a:off x="3579876" y="2606040"/>
            <a:ext cx="5029200" cy="685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2200" b="1">
                <a:solidFill>
                  <a:srgbClr val="0B4A8A"/>
                </a:solidFill>
              </a:rPr>
              <a:t>Role 5 — Procurement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3520440"/>
            <a:ext cx="1118311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B0C8E8"/>
                </a:solidFill>
              </a:rPr>
              <a:t>Vendor management · Quote collection · Adjudication · Early sourcing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926080" y="4389120"/>
            <a:ext cx="64008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1">
                <a:solidFill>
                  <a:srgbClr val="8AB4D8"/>
                </a:solidFill>
              </a:rPr>
              <a:t>Approval role:  </a:t>
            </a:r>
            <a:r>
              <a:rPr sz="1100">
                <a:solidFill>
                  <a:srgbClr val="D0E3F2"/>
                </a:solidFill>
              </a:rPr>
              <a:t>None formal — you execute after MD approval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26080" y="4690872"/>
            <a:ext cx="64008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1">
                <a:solidFill>
                  <a:srgbClr val="8AB4D8"/>
                </a:solidFill>
              </a:rPr>
              <a:t>Early sourcing:  </a:t>
            </a:r>
            <a:r>
              <a:rPr sz="1100">
                <a:solidFill>
                  <a:srgbClr val="D0E3F2"/>
                </a:solidFill>
              </a:rPr>
              <a:t>Incoming PRs view — start at pending_finance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26080" y="4992624"/>
            <a:ext cx="64008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1">
                <a:solidFill>
                  <a:srgbClr val="8AB4D8"/>
                </a:solidFill>
              </a:rPr>
              <a:t>Key responsibility:  </a:t>
            </a:r>
            <a:r>
              <a:rPr sz="1100">
                <a:solidFill>
                  <a:srgbClr val="D0E3F2"/>
                </a:solidFill>
              </a:rPr>
              <a:t>Vendor selection and order execution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0B4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118311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</a:rPr>
              <a:t>Who You Are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188720"/>
            <a:ext cx="5454396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B4A8A"/>
                </a:solidFill>
              </a:rPr>
              <a:t>You CAN: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554480"/>
            <a:ext cx="5454396" cy="5074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sz="1300">
                <a:solidFill>
                  <a:srgbClr val="111111"/>
                </a:solidFill>
              </a:rPr>
              <a:t>Monitor Incoming PRs — read-only view of PRs at pending_finance / pending_md</a:t>
            </a:r>
          </a:p>
          <a:p>
            <a:pPr>
              <a:spcBef>
                <a:spcPts val="300"/>
              </a:spcBef>
            </a:pPr>
            <a:r>
              <a:rPr sz="1300">
                <a:solidFill>
                  <a:srgbClr val="111111"/>
                </a:solidFill>
              </a:rPr>
              <a:t>View every Purchase Requisition across all departments</a:t>
            </a:r>
          </a:p>
          <a:p>
            <a:pPr>
              <a:spcBef>
                <a:spcPts val="300"/>
              </a:spcBef>
            </a:pPr>
            <a:r>
              <a:rPr sz="1300">
                <a:solidFill>
                  <a:srgbClr val="111111"/>
                </a:solidFill>
              </a:rPr>
              <a:t>Add supplier quotes to a requisition</a:t>
            </a:r>
          </a:p>
          <a:p>
            <a:pPr>
              <a:spcBef>
                <a:spcPts val="300"/>
              </a:spcBef>
            </a:pPr>
            <a:r>
              <a:rPr sz="1300">
                <a:solidFill>
                  <a:srgbClr val="111111"/>
                </a:solidFill>
              </a:rPr>
              <a:t>Run an adjudication (three-quote comparison) to select a vendor</a:t>
            </a:r>
          </a:p>
          <a:p>
            <a:pPr>
              <a:spcBef>
                <a:spcPts val="300"/>
              </a:spcBef>
            </a:pPr>
            <a:r>
              <a:rPr sz="1300">
                <a:solidFill>
                  <a:srgbClr val="111111"/>
                </a:solidFill>
              </a:rPr>
              <a:t>Add and maintain the vendor master list</a:t>
            </a:r>
          </a:p>
          <a:p>
            <a:pPr>
              <a:spcBef>
                <a:spcPts val="300"/>
              </a:spcBef>
            </a:pPr>
            <a:r>
              <a:rPr sz="1300">
                <a:solidFill>
                  <a:srgbClr val="111111"/>
                </a:solidFill>
              </a:rPr>
              <a:t>See rejected requisitions to identify recurring patterns</a:t>
            </a:r>
          </a:p>
          <a:p>
            <a:pPr>
              <a:spcBef>
                <a:spcPts val="300"/>
              </a:spcBef>
            </a:pPr>
            <a:r>
              <a:rPr sz="1300">
                <a:solidFill>
                  <a:srgbClr val="111111"/>
                </a:solidFill>
              </a:rPr>
              <a:t>View reports</a:t>
            </a:r>
          </a:p>
        </p:txBody>
      </p:sp>
      <p:sp>
        <p:nvSpPr>
          <p:cNvPr id="6" name="Rectangle 5"/>
          <p:cNvSpPr/>
          <p:nvPr/>
        </p:nvSpPr>
        <p:spPr>
          <a:xfrm>
            <a:off x="6067044" y="1188720"/>
            <a:ext cx="27432" cy="5349240"/>
          </a:xfrm>
          <a:prstGeom prst="rect">
            <a:avLst/>
          </a:prstGeom>
          <a:solidFill>
            <a:srgbClr val="CCDD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231636" y="1188720"/>
            <a:ext cx="5454396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B4A8A"/>
                </a:solidFill>
              </a:rPr>
              <a:t>You CANNOT: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31636" y="1554480"/>
            <a:ext cx="5454396" cy="5074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sz="1300">
                <a:solidFill>
                  <a:srgbClr val="111111"/>
                </a:solidFill>
              </a:rPr>
              <a:t>Approve financial requests — that is HOD / Finance / MD</a:t>
            </a:r>
          </a:p>
          <a:p>
            <a:pPr>
              <a:spcBef>
                <a:spcPts val="300"/>
              </a:spcBef>
            </a:pPr>
            <a:r>
              <a:rPr sz="1300">
                <a:solidFill>
                  <a:srgbClr val="111111"/>
                </a:solidFill>
              </a:rPr>
              <a:t>Change amounts or items on any PR (Incoming PRs is read-only)</a:t>
            </a:r>
          </a:p>
          <a:p>
            <a:pPr>
              <a:spcBef>
                <a:spcPts val="300"/>
              </a:spcBef>
            </a:pPr>
            <a:r>
              <a:rPr sz="1300">
                <a:solidFill>
                  <a:srgbClr val="111111"/>
                </a:solidFill>
              </a:rPr>
              <a:t>Manage users or system settings (Admin only)</a:t>
            </a:r>
          </a:p>
          <a:p>
            <a:pPr>
              <a:spcBef>
                <a:spcPts val="600"/>
              </a:spcBef>
            </a:pPr>
            <a:r>
              <a:rPr sz="1400" b="1">
                <a:solidFill>
                  <a:srgbClr val="0B4A8A"/>
                </a:solidFill>
              </a:rPr>
              <a:t>Your responsibilities:</a:t>
            </a:r>
          </a:p>
          <a:p>
            <a:pPr>
              <a:spcBef>
                <a:spcPts val="300"/>
              </a:spcBef>
            </a:pPr>
            <a:r>
              <a:rPr sz="1300">
                <a:solidFill>
                  <a:srgbClr val="111111"/>
                </a:solidFill>
              </a:rPr>
              <a:t>Start sourcing early — monitor Incoming PRs from pending_finance</a:t>
            </a:r>
          </a:p>
          <a:p>
            <a:pPr>
              <a:spcBef>
                <a:spcPts val="300"/>
              </a:spcBef>
            </a:pPr>
            <a:r>
              <a:rPr sz="1300">
                <a:solidFill>
                  <a:srgbClr val="111111"/>
                </a:solidFill>
              </a:rPr>
              <a:t>Collect ≥3 quotes for items above the unquoted limit</a:t>
            </a:r>
          </a:p>
          <a:p>
            <a:pPr>
              <a:spcBef>
                <a:spcPts val="300"/>
              </a:spcBef>
            </a:pPr>
            <a:r>
              <a:rPr sz="1300">
                <a:solidFill>
                  <a:srgbClr val="111111"/>
                </a:solidFill>
              </a:rPr>
              <a:t>Run fair adjudications, document the winning vendor and reasoning</a:t>
            </a:r>
          </a:p>
          <a:p>
            <a:pPr>
              <a:spcBef>
                <a:spcPts val="300"/>
              </a:spcBef>
            </a:pPr>
            <a:r>
              <a:rPr sz="1300">
                <a:solidFill>
                  <a:srgbClr val="111111"/>
                </a:solidFill>
              </a:rPr>
              <a:t>Keep the vendor list clean and up to date</a:t>
            </a:r>
          </a:p>
          <a:p>
            <a:pPr>
              <a:spcBef>
                <a:spcPts val="300"/>
              </a:spcBef>
            </a:pPr>
            <a:r>
              <a:rPr sz="1300">
                <a:solidFill>
                  <a:srgbClr val="111111"/>
                </a:solidFill>
              </a:rPr>
              <a:t>Issue purchase orders promptly after MD approval (outside the system)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0B4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118311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</a:rPr>
              <a:t>Workflow — Your Position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188720"/>
            <a:ext cx="11183112" cy="5349240"/>
          </a:xfrm>
          <a:prstGeom prst="rect">
            <a:avLst/>
          </a:prstGeom>
          <a:solidFill>
            <a:srgbClr val="EAF2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371600"/>
            <a:ext cx="10634472" cy="4983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111111"/>
                </a:solidFill>
                <a:latin typeface="Consolas"/>
              </a:rPr>
              <a:t>  [Initiator] --&gt; pending_hod --&gt; pending_finance --&gt; pending_md --&gt; approved</a:t>
            </a:r>
          </a:p>
          <a:p>
            <a:r>
              <a:rPr sz="1200">
                <a:solidFill>
                  <a:srgbClr val="111111"/>
                </a:solidFill>
                <a:latin typeface="Consolas"/>
              </a:rPr>
              <a:t>                                        |                               |</a:t>
            </a:r>
          </a:p>
          <a:p>
            <a:r>
              <a:rPr sz="1200">
                <a:solidFill>
                  <a:srgbClr val="111111"/>
                </a:solidFill>
                <a:latin typeface="Consolas"/>
              </a:rPr>
              <a:t>                               INCOMING PRs VIEW                       v</a:t>
            </a:r>
          </a:p>
          <a:p>
            <a:r>
              <a:rPr sz="1200">
                <a:solidFill>
                  <a:srgbClr val="111111"/>
                </a:solidFill>
                <a:latin typeface="Consolas"/>
              </a:rPr>
              <a:t>                               (read-only) — you                  YOU run adjudication,</a:t>
            </a:r>
          </a:p>
          <a:p>
            <a:r>
              <a:rPr sz="1200">
                <a:solidFill>
                  <a:srgbClr val="111111"/>
                </a:solidFill>
                <a:latin typeface="Consolas"/>
              </a:rPr>
              <a:t>                               start collecting quotes             upload quotes,</a:t>
            </a:r>
          </a:p>
          <a:p>
            <a:r>
              <a:rPr sz="1200">
                <a:solidFill>
                  <a:srgbClr val="111111"/>
                </a:solidFill>
                <a:latin typeface="Consolas"/>
              </a:rPr>
              <a:t>                               from suppliers here                 issue PO outside system</a:t>
            </a:r>
          </a:p>
          <a:p>
            <a:r>
              <a:rPr sz="1200">
                <a:solidFill>
                  <a:srgbClr val="111111"/>
                </a:solidFill>
                <a:latin typeface="Consolas"/>
              </a:rPr>
              <a:t/>
            </a:r>
          </a:p>
          <a:p>
            <a:r>
              <a:rPr sz="1200">
                <a:solidFill>
                  <a:srgbClr val="111111"/>
                </a:solidFill>
                <a:latin typeface="Consolas"/>
              </a:rPr>
              <a:t>  Typical sub-flow:</a:t>
            </a:r>
          </a:p>
          <a:p>
            <a:r>
              <a:rPr sz="1200">
                <a:solidFill>
                  <a:srgbClr val="111111"/>
                </a:solidFill>
                <a:latin typeface="Consolas"/>
              </a:rPr>
              <a:t>    1. PR appears in Incoming PRs (With Finance or With MD).</a:t>
            </a:r>
          </a:p>
          <a:p>
            <a:r>
              <a:rPr sz="1200">
                <a:solidFill>
                  <a:srgbClr val="111111"/>
                </a:solidFill>
                <a:latin typeface="Consolas"/>
              </a:rPr>
              <a:t>    2. View PR details (read-only) to understand requirements.</a:t>
            </a:r>
          </a:p>
          <a:p>
            <a:r>
              <a:rPr sz="1200">
                <a:solidFill>
                  <a:srgbClr val="111111"/>
                </a:solidFill>
                <a:latin typeface="Consolas"/>
              </a:rPr>
              <a:t>    3. Contact vendors externally, collect written quotes.</a:t>
            </a:r>
          </a:p>
          <a:p>
            <a:r>
              <a:rPr sz="1200">
                <a:solidFill>
                  <a:srgbClr val="111111"/>
                </a:solidFill>
                <a:latin typeface="Consolas"/>
              </a:rPr>
              <a:t>    4. Once PR is approved, upload quotes into the system.</a:t>
            </a:r>
          </a:p>
          <a:p>
            <a:r>
              <a:rPr sz="1200">
                <a:solidFill>
                  <a:srgbClr val="111111"/>
                </a:solidFill>
                <a:latin typeface="Consolas"/>
              </a:rPr>
              <a:t>    5. Run adjudication → select winning vendor.</a:t>
            </a:r>
          </a:p>
          <a:p>
            <a:r>
              <a:rPr sz="1200">
                <a:solidFill>
                  <a:srgbClr val="111111"/>
                </a:solidFill>
                <a:latin typeface="Consolas"/>
              </a:rPr>
              <a:t>    6. Issue PO to the winning vendor.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0B4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118311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</a:rPr>
              <a:t>Task: Monitor Incoming PRs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188720"/>
            <a:ext cx="1118311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555555"/>
                </a:solidFill>
              </a:rPr>
              <a:t>Incoming PRs is read-only. You cannot add quotes or take actions until the PR is approved.</a:t>
            </a:r>
          </a:p>
        </p:txBody>
      </p:sp>
      <p:sp>
        <p:nvSpPr>
          <p:cNvPr id="5" name="Oval 4"/>
          <p:cNvSpPr/>
          <p:nvPr/>
        </p:nvSpPr>
        <p:spPr>
          <a:xfrm>
            <a:off x="502920" y="1591056"/>
            <a:ext cx="411480" cy="411480"/>
          </a:xfrm>
          <a:prstGeom prst="ellipse">
            <a:avLst/>
          </a:prstGeom>
          <a:solidFill>
            <a:srgbClr val="0B4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272" y="1536192"/>
            <a:ext cx="10634472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11111"/>
                </a:solidFill>
              </a:rPr>
              <a:t>Sidebar → Procurement → Incoming PRs  (or click 'PRs In Pipeline' on Dashboard).</a:t>
            </a:r>
          </a:p>
        </p:txBody>
      </p:sp>
      <p:sp>
        <p:nvSpPr>
          <p:cNvPr id="7" name="Oval 6"/>
          <p:cNvSpPr/>
          <p:nvPr/>
        </p:nvSpPr>
        <p:spPr>
          <a:xfrm>
            <a:off x="502920" y="2157984"/>
            <a:ext cx="411480" cy="411480"/>
          </a:xfrm>
          <a:prstGeom prst="ellipse">
            <a:avLst/>
          </a:prstGeom>
          <a:solidFill>
            <a:srgbClr val="0B4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3272" y="2103120"/>
            <a:ext cx="10634472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11111"/>
                </a:solidFill>
              </a:rPr>
              <a:t>The list shows all PRs at 'With Finance' (pending_finance) or 'With MD' (pending_md).</a:t>
            </a:r>
          </a:p>
        </p:txBody>
      </p:sp>
      <p:sp>
        <p:nvSpPr>
          <p:cNvPr id="9" name="Oval 8"/>
          <p:cNvSpPr/>
          <p:nvPr/>
        </p:nvSpPr>
        <p:spPr>
          <a:xfrm>
            <a:off x="502920" y="2724912"/>
            <a:ext cx="411480" cy="411480"/>
          </a:xfrm>
          <a:prstGeom prst="ellipse">
            <a:avLst/>
          </a:prstGeom>
          <a:solidFill>
            <a:srgbClr val="0B4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33272" y="2670048"/>
            <a:ext cx="10634472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11111"/>
                </a:solidFill>
              </a:rPr>
              <a:t>Use the search bar to filter by PR number, title, or department.</a:t>
            </a:r>
          </a:p>
        </p:txBody>
      </p:sp>
      <p:sp>
        <p:nvSpPr>
          <p:cNvPr id="11" name="Oval 10"/>
          <p:cNvSpPr/>
          <p:nvPr/>
        </p:nvSpPr>
        <p:spPr>
          <a:xfrm>
            <a:off x="502920" y="3291840"/>
            <a:ext cx="411480" cy="411480"/>
          </a:xfrm>
          <a:prstGeom prst="ellipse">
            <a:avLst/>
          </a:prstGeom>
          <a:solidFill>
            <a:srgbClr val="0B4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3272" y="3236976"/>
            <a:ext cx="10634472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11111"/>
                </a:solidFill>
              </a:rPr>
              <a:t>Click View on any row to open the PR in read-only detail mode.</a:t>
            </a:r>
          </a:p>
        </p:txBody>
      </p:sp>
      <p:sp>
        <p:nvSpPr>
          <p:cNvPr id="13" name="Oval 12"/>
          <p:cNvSpPr/>
          <p:nvPr/>
        </p:nvSpPr>
        <p:spPr>
          <a:xfrm>
            <a:off x="502920" y="3858768"/>
            <a:ext cx="411480" cy="411480"/>
          </a:xfrm>
          <a:prstGeom prst="ellipse">
            <a:avLst/>
          </a:prstGeom>
          <a:solidFill>
            <a:srgbClr val="0B4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33272" y="3803904"/>
            <a:ext cx="10634472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11111"/>
                </a:solidFill>
              </a:rPr>
              <a:t>Review items, quantities, required date, and any HOD notes.</a:t>
            </a:r>
          </a:p>
        </p:txBody>
      </p:sp>
      <p:sp>
        <p:nvSpPr>
          <p:cNvPr id="15" name="Oval 14"/>
          <p:cNvSpPr/>
          <p:nvPr/>
        </p:nvSpPr>
        <p:spPr>
          <a:xfrm>
            <a:off x="502920" y="4425696"/>
            <a:ext cx="411480" cy="411480"/>
          </a:xfrm>
          <a:prstGeom prst="ellipse">
            <a:avLst/>
          </a:prstGeom>
          <a:solidFill>
            <a:srgbClr val="0B4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</a:rPr>
              <a:t>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33272" y="4370832"/>
            <a:ext cx="10634472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11111"/>
                </a:solidFill>
              </a:rPr>
              <a:t>Begin contacting vendors externally — collect informal quotes in parallel with the approval process.</a:t>
            </a:r>
          </a:p>
        </p:txBody>
      </p:sp>
      <p:sp>
        <p:nvSpPr>
          <p:cNvPr id="17" name="Oval 16"/>
          <p:cNvSpPr/>
          <p:nvPr/>
        </p:nvSpPr>
        <p:spPr>
          <a:xfrm>
            <a:off x="502920" y="4992624"/>
            <a:ext cx="411480" cy="411480"/>
          </a:xfrm>
          <a:prstGeom prst="ellipse">
            <a:avLst/>
          </a:prstGeom>
          <a:solidFill>
            <a:srgbClr val="0B4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</a:rPr>
              <a:t>7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33272" y="4937760"/>
            <a:ext cx="10634472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11111"/>
                </a:solidFill>
              </a:rPr>
              <a:t>Upload quotes and run adjudication only after the PR is fully approved.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0B4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118311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</a:rPr>
              <a:t>Task: Collect &amp; Add Quotes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188720"/>
            <a:ext cx="1118311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555555"/>
                </a:solidFill>
              </a:rPr>
              <a:t>Start collecting quotes externally while the PR is still in Incoming PRs. Upload them here after approval.</a:t>
            </a:r>
          </a:p>
        </p:txBody>
      </p:sp>
      <p:sp>
        <p:nvSpPr>
          <p:cNvPr id="5" name="Oval 4"/>
          <p:cNvSpPr/>
          <p:nvPr/>
        </p:nvSpPr>
        <p:spPr>
          <a:xfrm>
            <a:off x="502920" y="1591056"/>
            <a:ext cx="411480" cy="411480"/>
          </a:xfrm>
          <a:prstGeom prst="ellipse">
            <a:avLst/>
          </a:prstGeom>
          <a:solidFill>
            <a:srgbClr val="0B4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272" y="1536192"/>
            <a:ext cx="10634472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11111"/>
                </a:solidFill>
              </a:rPr>
              <a:t>Once a PR is approved, open it from Sidebar → Procurement → Approved Requisitions.</a:t>
            </a:r>
          </a:p>
        </p:txBody>
      </p:sp>
      <p:sp>
        <p:nvSpPr>
          <p:cNvPr id="7" name="Oval 6"/>
          <p:cNvSpPr/>
          <p:nvPr/>
        </p:nvSpPr>
        <p:spPr>
          <a:xfrm>
            <a:off x="502920" y="2157984"/>
            <a:ext cx="411480" cy="411480"/>
          </a:xfrm>
          <a:prstGeom prst="ellipse">
            <a:avLst/>
          </a:prstGeom>
          <a:solidFill>
            <a:srgbClr val="0B4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3272" y="2103120"/>
            <a:ext cx="10634472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11111"/>
                </a:solidFill>
              </a:rPr>
              <a:t>Scroll to the Quotes section. Click Add Quote.</a:t>
            </a:r>
          </a:p>
        </p:txBody>
      </p:sp>
      <p:sp>
        <p:nvSpPr>
          <p:cNvPr id="9" name="Oval 8"/>
          <p:cNvSpPr/>
          <p:nvPr/>
        </p:nvSpPr>
        <p:spPr>
          <a:xfrm>
            <a:off x="502920" y="2724912"/>
            <a:ext cx="411480" cy="411480"/>
          </a:xfrm>
          <a:prstGeom prst="ellipse">
            <a:avLst/>
          </a:prstGeom>
          <a:solidFill>
            <a:srgbClr val="0B4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33272" y="2670048"/>
            <a:ext cx="10634472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11111"/>
                </a:solidFill>
              </a:rPr>
              <a:t>Select the Vendor from the master list (add them first via Administration → Vendors if new).</a:t>
            </a:r>
          </a:p>
        </p:txBody>
      </p:sp>
      <p:sp>
        <p:nvSpPr>
          <p:cNvPr id="11" name="Oval 10"/>
          <p:cNvSpPr/>
          <p:nvPr/>
        </p:nvSpPr>
        <p:spPr>
          <a:xfrm>
            <a:off x="502920" y="3291840"/>
            <a:ext cx="411480" cy="411480"/>
          </a:xfrm>
          <a:prstGeom prst="ellipse">
            <a:avLst/>
          </a:prstGeom>
          <a:solidFill>
            <a:srgbClr val="0B4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3272" y="3236976"/>
            <a:ext cx="10634472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11111"/>
                </a:solidFill>
              </a:rPr>
              <a:t>Enter unit price, currency, attach the quote PDF, enter validity period.</a:t>
            </a:r>
          </a:p>
        </p:txBody>
      </p:sp>
      <p:sp>
        <p:nvSpPr>
          <p:cNvPr id="13" name="Oval 12"/>
          <p:cNvSpPr/>
          <p:nvPr/>
        </p:nvSpPr>
        <p:spPr>
          <a:xfrm>
            <a:off x="502920" y="3858768"/>
            <a:ext cx="411480" cy="411480"/>
          </a:xfrm>
          <a:prstGeom prst="ellipse">
            <a:avLst/>
          </a:prstGeom>
          <a:solidFill>
            <a:srgbClr val="0B4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33272" y="3803904"/>
            <a:ext cx="10634472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11111"/>
                </a:solidFill>
              </a:rPr>
              <a:t>Repeat for each supplier — aim for at least 3 quotes for items above the unquoted limit.</a:t>
            </a:r>
          </a:p>
        </p:txBody>
      </p:sp>
      <p:sp>
        <p:nvSpPr>
          <p:cNvPr id="15" name="Oval 14"/>
          <p:cNvSpPr/>
          <p:nvPr/>
        </p:nvSpPr>
        <p:spPr>
          <a:xfrm>
            <a:off x="502920" y="4425696"/>
            <a:ext cx="411480" cy="411480"/>
          </a:xfrm>
          <a:prstGeom prst="ellipse">
            <a:avLst/>
          </a:prstGeom>
          <a:solidFill>
            <a:srgbClr val="0B4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</a:rPr>
              <a:t>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33272" y="4370832"/>
            <a:ext cx="10634472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11111"/>
                </a:solidFill>
              </a:rPr>
              <a:t>Once all quotes are in, proceed to adjudication.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0B4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118311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</a:rPr>
              <a:t>Task: Run Adjudication</a:t>
            </a:r>
          </a:p>
        </p:txBody>
      </p:sp>
      <p:sp>
        <p:nvSpPr>
          <p:cNvPr id="4" name="Oval 3"/>
          <p:cNvSpPr/>
          <p:nvPr/>
        </p:nvSpPr>
        <p:spPr>
          <a:xfrm>
            <a:off x="502920" y="1243584"/>
            <a:ext cx="411480" cy="411480"/>
          </a:xfrm>
          <a:prstGeom prst="ellipse">
            <a:avLst/>
          </a:prstGeom>
          <a:solidFill>
            <a:srgbClr val="0B4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33272" y="1188720"/>
            <a:ext cx="10634472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11111"/>
                </a:solidFill>
              </a:rPr>
              <a:t>Sidebar → Procurement → Adjudication.</a:t>
            </a:r>
          </a:p>
        </p:txBody>
      </p:sp>
      <p:sp>
        <p:nvSpPr>
          <p:cNvPr id="6" name="Oval 5"/>
          <p:cNvSpPr/>
          <p:nvPr/>
        </p:nvSpPr>
        <p:spPr>
          <a:xfrm>
            <a:off x="502920" y="1810512"/>
            <a:ext cx="411480" cy="411480"/>
          </a:xfrm>
          <a:prstGeom prst="ellipse">
            <a:avLst/>
          </a:prstGeom>
          <a:solidFill>
            <a:srgbClr val="0B4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3272" y="1755648"/>
            <a:ext cx="10634472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11111"/>
                </a:solidFill>
              </a:rPr>
              <a:t>Find the PR and open its adjudication view.</a:t>
            </a:r>
          </a:p>
        </p:txBody>
      </p:sp>
      <p:sp>
        <p:nvSpPr>
          <p:cNvPr id="8" name="Oval 7"/>
          <p:cNvSpPr/>
          <p:nvPr/>
        </p:nvSpPr>
        <p:spPr>
          <a:xfrm>
            <a:off x="502920" y="2377440"/>
            <a:ext cx="411480" cy="411480"/>
          </a:xfrm>
          <a:prstGeom prst="ellipse">
            <a:avLst/>
          </a:prstGeom>
          <a:solidFill>
            <a:srgbClr val="0B4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3272" y="2322576"/>
            <a:ext cx="10634472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11111"/>
                </a:solidFill>
              </a:rPr>
              <a:t>Compare the quotes: price (all converted to ZMW), delivery time, quality/track record.</a:t>
            </a:r>
          </a:p>
        </p:txBody>
      </p:sp>
      <p:sp>
        <p:nvSpPr>
          <p:cNvPr id="10" name="Oval 9"/>
          <p:cNvSpPr/>
          <p:nvPr/>
        </p:nvSpPr>
        <p:spPr>
          <a:xfrm>
            <a:off x="502920" y="2944368"/>
            <a:ext cx="411480" cy="411480"/>
          </a:xfrm>
          <a:prstGeom prst="ellipse">
            <a:avLst/>
          </a:prstGeom>
          <a:solidFill>
            <a:srgbClr val="0B4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33272" y="2889504"/>
            <a:ext cx="10634472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11111"/>
                </a:solidFill>
              </a:rPr>
              <a:t>Select the winning vendor and document the reasoning in the Adjudication Notes.</a:t>
            </a:r>
          </a:p>
        </p:txBody>
      </p:sp>
      <p:sp>
        <p:nvSpPr>
          <p:cNvPr id="12" name="Oval 11"/>
          <p:cNvSpPr/>
          <p:nvPr/>
        </p:nvSpPr>
        <p:spPr>
          <a:xfrm>
            <a:off x="502920" y="3511296"/>
            <a:ext cx="411480" cy="411480"/>
          </a:xfrm>
          <a:prstGeom prst="ellipse">
            <a:avLst/>
          </a:prstGeom>
          <a:solidFill>
            <a:srgbClr val="0B4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33272" y="3456432"/>
            <a:ext cx="10634472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11111"/>
                </a:solidFill>
              </a:rPr>
              <a:t>Submit the adjudication — this records the decision in the audit trail.</a:t>
            </a:r>
          </a:p>
        </p:txBody>
      </p:sp>
      <p:sp>
        <p:nvSpPr>
          <p:cNvPr id="14" name="Oval 13"/>
          <p:cNvSpPr/>
          <p:nvPr/>
        </p:nvSpPr>
        <p:spPr>
          <a:xfrm>
            <a:off x="502920" y="4078224"/>
            <a:ext cx="411480" cy="411480"/>
          </a:xfrm>
          <a:prstGeom prst="ellipse">
            <a:avLst/>
          </a:prstGeom>
          <a:solidFill>
            <a:srgbClr val="0B4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</a:rPr>
              <a:t>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33272" y="4023360"/>
            <a:ext cx="10634472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11111"/>
                </a:solidFill>
              </a:rPr>
              <a:t>Issue the Purchase Order to the winning vendor outside the system.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0B4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118311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</a:rPr>
              <a:t>Vendor Management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188720"/>
            <a:ext cx="11183112" cy="5440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sz="1300">
                <a:solidFill>
                  <a:srgbClr val="111111"/>
                </a:solidFill>
              </a:rPr>
              <a:t>Sidebar → Administration → Vendors</a:t>
            </a:r>
          </a:p>
          <a:p>
            <a:pPr>
              <a:spcBef>
                <a:spcPts val="600"/>
              </a:spcBef>
            </a:pPr>
            <a:r>
              <a:rPr sz="1400" b="1">
                <a:solidFill>
                  <a:srgbClr val="0B4A8A"/>
                </a:solidFill>
              </a:rPr>
              <a:t>Adding a vendor:</a:t>
            </a:r>
          </a:p>
          <a:p>
            <a:pPr>
              <a:spcBef>
                <a:spcPts val="300"/>
              </a:spcBef>
            </a:pPr>
            <a:r>
              <a:rPr sz="1300">
                <a:solidFill>
                  <a:srgbClr val="111111"/>
                </a:solidFill>
              </a:rPr>
              <a:t>Click Add Vendor → fill name, code, category, contact, tier (1–3), rating (1–5)</a:t>
            </a:r>
          </a:p>
          <a:p>
            <a:pPr>
              <a:spcBef>
                <a:spcPts val="600"/>
              </a:spcBef>
            </a:pPr>
            <a:r>
              <a:rPr sz="1400" b="1">
                <a:solidFill>
                  <a:srgbClr val="0B4A8A"/>
                </a:solidFill>
              </a:rPr>
              <a:t>Editing / deactivating:</a:t>
            </a:r>
          </a:p>
          <a:p>
            <a:pPr>
              <a:spcBef>
                <a:spcPts val="300"/>
              </a:spcBef>
            </a:pPr>
            <a:r>
              <a:rPr sz="1300">
                <a:solidFill>
                  <a:srgbClr val="111111"/>
                </a:solidFill>
              </a:rPr>
              <a:t>Click the vendor row → update fields → Save</a:t>
            </a:r>
          </a:p>
          <a:p>
            <a:pPr>
              <a:spcBef>
                <a:spcPts val="300"/>
              </a:spcBef>
            </a:pPr>
            <a:r>
              <a:rPr sz="1300">
                <a:solidFill>
                  <a:srgbClr val="111111"/>
                </a:solidFill>
              </a:rPr>
              <a:t>To deactivate: set Status to inactive — vendor disappears from dropdowns but historical quotes remain</a:t>
            </a:r>
          </a:p>
          <a:p>
            <a:pPr>
              <a:spcBef>
                <a:spcPts val="600"/>
              </a:spcBef>
            </a:pPr>
            <a:r>
              <a:rPr sz="1400" b="1">
                <a:solidFill>
                  <a:srgbClr val="0B4A8A"/>
                </a:solidFill>
              </a:rPr>
              <a:t>Bulk upload:</a:t>
            </a:r>
          </a:p>
          <a:p>
            <a:pPr>
              <a:spcBef>
                <a:spcPts val="300"/>
              </a:spcBef>
            </a:pPr>
            <a:r>
              <a:rPr sz="1300">
                <a:solidFill>
                  <a:srgbClr val="111111"/>
                </a:solidFill>
              </a:rPr>
              <a:t>Download the vendor template → fill columns → click Upload from Excel</a:t>
            </a:r>
          </a:p>
          <a:p>
            <a:pPr>
              <a:spcBef>
                <a:spcPts val="600"/>
              </a:spcBef>
            </a:pPr>
            <a:r>
              <a:rPr sz="1400" b="1">
                <a:solidFill>
                  <a:srgbClr val="0B4A8A"/>
                </a:solidFill>
              </a:rPr>
              <a:t>Quote rules of thumb:</a:t>
            </a:r>
          </a:p>
          <a:p>
            <a:pPr>
              <a:spcBef>
                <a:spcPts val="300"/>
              </a:spcBef>
            </a:pPr>
            <a:r>
              <a:rPr sz="1300">
                <a:solidFill>
                  <a:srgbClr val="111111"/>
                </a:solidFill>
              </a:rPr>
              <a:t>Below the unquoted limit: no quote required, but adding one is always welcome</a:t>
            </a:r>
          </a:p>
          <a:p>
            <a:pPr>
              <a:spcBef>
                <a:spcPts val="300"/>
              </a:spcBef>
            </a:pPr>
            <a:r>
              <a:rPr sz="1300">
                <a:solidFill>
                  <a:srgbClr val="111111"/>
                </a:solidFill>
              </a:rPr>
              <a:t>Above the limit: at least 3 written quotes required</a:t>
            </a:r>
          </a:p>
          <a:p>
            <a:pPr>
              <a:spcBef>
                <a:spcPts val="300"/>
              </a:spcBef>
            </a:pPr>
            <a:r>
              <a:rPr sz="1300">
                <a:solidFill>
                  <a:srgbClr val="111111"/>
                </a:solidFill>
              </a:rPr>
              <a:t>Sole-source: attach a written HOD/Finance justification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62E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84848"/>
            <a:ext cx="12188952" cy="731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2194560"/>
            <a:ext cx="11183112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FFFFFF"/>
                </a:solidFill>
              </a:rPr>
              <a:t>Refer to your role manual for full detail.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3291840"/>
            <a:ext cx="1118311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8AB4D8"/>
                </a:solidFill>
              </a:rPr>
              <a:t>Role 5 — Procurement  ·  KSB Zambia Purchase Requisition System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