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62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3771900"/>
          </a:xfrm>
          <a:prstGeom prst="rect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0C8E8"/>
                </a:solidFill>
              </a:rPr>
              <a:t>KSB ZAMBIA  ·  PURCHASE REQUISITION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463040"/>
            <a:ext cx="1118311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User Manual</a:t>
            </a:r>
          </a:p>
        </p:txBody>
      </p:sp>
      <p:sp>
        <p:nvSpPr>
          <p:cNvPr id="8" name="Rectangle 7"/>
          <p:cNvSpPr/>
          <p:nvPr/>
        </p:nvSpPr>
        <p:spPr>
          <a:xfrm>
            <a:off x="3579876" y="2606040"/>
            <a:ext cx="5029200" cy="685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200" b="1">
                <a:solidFill>
                  <a:srgbClr val="0B4A8A"/>
                </a:solidFill>
              </a:rPr>
              <a:t>Role 3 — Finance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520440"/>
            <a:ext cx="1118311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B0C8E8"/>
                </a:solidFill>
              </a:rPr>
              <a:t>Second-stage approver · Budgets · FX rates · GRN approvals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4389120"/>
            <a:ext cx="6400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8AB4D8"/>
                </a:solidFill>
              </a:rPr>
              <a:t>Approval stage:  </a:t>
            </a:r>
            <a:r>
              <a:rPr sz="1100">
                <a:solidFill>
                  <a:srgbClr val="D0E3F2"/>
                </a:solidFill>
              </a:rPr>
              <a:t>Stage 2 — after HOD, before 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4690872"/>
            <a:ext cx="6400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8AB4D8"/>
                </a:solidFill>
              </a:rPr>
              <a:t>Extra:  </a:t>
            </a:r>
            <a:r>
              <a:rPr sz="1100">
                <a:solidFill>
                  <a:srgbClr val="D0E3F2"/>
                </a:solidFill>
              </a:rPr>
              <a:t>Budgets, FX rates, GRN approvals, Procurement coordination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311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Who You 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188720"/>
            <a:ext cx="545439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B4A8A"/>
                </a:solidFill>
              </a:rPr>
              <a:t>You CAN: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54480"/>
            <a:ext cx="5454396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Approve / reject at pending_finance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Approve GRNs (goods receipts into stock)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Approve Issue Slips at Finance stage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See and edit department budgets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See and edit currency FX rates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See every request system-wide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Run financial analytics reports</a:t>
            </a:r>
          </a:p>
        </p:txBody>
      </p:sp>
      <p:sp>
        <p:nvSpPr>
          <p:cNvPr id="6" name="Rectangle 5"/>
          <p:cNvSpPr/>
          <p:nvPr/>
        </p:nvSpPr>
        <p:spPr>
          <a:xfrm>
            <a:off x="6067044" y="1188720"/>
            <a:ext cx="27432" cy="5349240"/>
          </a:xfrm>
          <a:prstGeom prst="rect">
            <a:avLst/>
          </a:prstGeom>
          <a:solidFill>
            <a:srgbClr val="CCDD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31636" y="1188720"/>
            <a:ext cx="545439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B4A8A"/>
                </a:solidFill>
              </a:rPr>
              <a:t>You CANNOT: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31636" y="1554480"/>
            <a:ext cx="5454396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Skip the HOD stage — requests must arrive via HOD approval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Approve your own initiated requests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Delete users or change system roles (Admin only)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Modify an approved request</a:t>
            </a:r>
          </a:p>
          <a:p>
            <a:pPr>
              <a:spcBef>
                <a:spcPts val="600"/>
              </a:spcBef>
            </a:pPr>
            <a:r>
              <a:rPr sz="1400" b="1">
                <a:solidFill>
                  <a:srgbClr val="0B4A8A"/>
                </a:solidFill>
              </a:rPr>
              <a:t>Note: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When a PR reaches pending_finance, Procurement already has read-only visibility via their Incoming PRs view and may be collecting quotes in parallel.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311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Workflow — Your Position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88720"/>
            <a:ext cx="11183112" cy="5349240"/>
          </a:xfrm>
          <a:prstGeom prst="rect">
            <a:avLst/>
          </a:prstGeom>
          <a:solidFill>
            <a:srgbClr val="EA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371600"/>
            <a:ext cx="10634472" cy="4983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111111"/>
                </a:solidFill>
                <a:latin typeface="Consolas"/>
              </a:rPr>
              <a:t>            [HOD approved]</a:t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>                  |</a:t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>                  v</a:t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>      +--------------------------+</a:t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>      | STATUS = pending_finance |  &lt;-- your queue</a:t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>      | (Procurement also sees   |</a:t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>      |  this PR read-only and   |</a:t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>      |  may be sourcing quotes) |</a:t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>      +--------------------------+</a:t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>                  |</a:t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>         approve / reject</a:t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>                  |</a:t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>       +----------+----------+</a:t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>       |                     |</a:t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>       v                     v</a:t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>   pending_md*           approved</a:t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>  (high-value PR)   (EFT, PC, EC, Issue Slip,</a:t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>                    or low-value PR)</a:t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/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>GRN:  [Stores creates GRN] --&gt; pending_approval --&gt; approved  (you approve)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311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Task: Review &amp; Approve a Financial Request</a:t>
            </a:r>
          </a:p>
        </p:txBody>
      </p:sp>
      <p:sp>
        <p:nvSpPr>
          <p:cNvPr id="4" name="Oval 3"/>
          <p:cNvSpPr/>
          <p:nvPr/>
        </p:nvSpPr>
        <p:spPr>
          <a:xfrm>
            <a:off x="502920" y="1243584"/>
            <a:ext cx="411480" cy="411480"/>
          </a:xfrm>
          <a:prstGeom prst="ellipse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" y="1188720"/>
            <a:ext cx="106344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Open Pending Approvals: Procurement → Pending Approvals or Financial Forms → Pending Approvals.</a:t>
            </a:r>
          </a:p>
        </p:txBody>
      </p:sp>
      <p:sp>
        <p:nvSpPr>
          <p:cNvPr id="6" name="Oval 5"/>
          <p:cNvSpPr/>
          <p:nvPr/>
        </p:nvSpPr>
        <p:spPr>
          <a:xfrm>
            <a:off x="502920" y="1810512"/>
            <a:ext cx="411480" cy="411480"/>
          </a:xfrm>
          <a:prstGeom prst="ellipse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" y="1755648"/>
            <a:ext cx="106344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Click a request. Verify HOD has approved and read their comment.</a:t>
            </a:r>
          </a:p>
        </p:txBody>
      </p:sp>
      <p:sp>
        <p:nvSpPr>
          <p:cNvPr id="8" name="Oval 7"/>
          <p:cNvSpPr/>
          <p:nvPr/>
        </p:nvSpPr>
        <p:spPr>
          <a:xfrm>
            <a:off x="502920" y="2377440"/>
            <a:ext cx="411480" cy="411480"/>
          </a:xfrm>
          <a:prstGeom prst="ellipse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" y="2322576"/>
            <a:ext cx="106344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Check budget: Financial Planning → Budgets — does this push the dept over budget?</a:t>
            </a:r>
          </a:p>
        </p:txBody>
      </p:sp>
      <p:sp>
        <p:nvSpPr>
          <p:cNvPr id="10" name="Oval 9"/>
          <p:cNvSpPr/>
          <p:nvPr/>
        </p:nvSpPr>
        <p:spPr>
          <a:xfrm>
            <a:off x="502920" y="2944368"/>
            <a:ext cx="411480" cy="411480"/>
          </a:xfrm>
          <a:prstGeom prst="ellipse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2" y="2889504"/>
            <a:ext cx="106344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Check supporting documents: invoice matches amount and payee details, quotes match PR prices.</a:t>
            </a:r>
          </a:p>
        </p:txBody>
      </p:sp>
      <p:sp>
        <p:nvSpPr>
          <p:cNvPr id="12" name="Oval 11"/>
          <p:cNvSpPr/>
          <p:nvPr/>
        </p:nvSpPr>
        <p:spPr>
          <a:xfrm>
            <a:off x="502920" y="3511296"/>
            <a:ext cx="411480" cy="411480"/>
          </a:xfrm>
          <a:prstGeom prst="ellipse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" y="3456432"/>
            <a:ext cx="106344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Check FX: if amount is in USD/EUR/GBP/ZAR, is the current ZMW rate accurate? Update if stale.</a:t>
            </a:r>
          </a:p>
        </p:txBody>
      </p:sp>
      <p:sp>
        <p:nvSpPr>
          <p:cNvPr id="14" name="Oval 13"/>
          <p:cNvSpPr/>
          <p:nvPr/>
        </p:nvSpPr>
        <p:spPr>
          <a:xfrm>
            <a:off x="502920" y="4078224"/>
            <a:ext cx="411480" cy="411480"/>
          </a:xfrm>
          <a:prstGeom prst="ellipse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" y="4023360"/>
            <a:ext cx="106344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If Procurement has flagged a sourcing concern about this PR, factor it in before approving.</a:t>
            </a:r>
          </a:p>
        </p:txBody>
      </p:sp>
      <p:sp>
        <p:nvSpPr>
          <p:cNvPr id="16" name="Oval 15"/>
          <p:cNvSpPr/>
          <p:nvPr/>
        </p:nvSpPr>
        <p:spPr>
          <a:xfrm>
            <a:off x="502920" y="4645152"/>
            <a:ext cx="411480" cy="411480"/>
          </a:xfrm>
          <a:prstGeom prst="ellipse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" y="4590288"/>
            <a:ext cx="106344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Write a meaningful comment, then click Approve or Reject.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311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Task: Approve a GRN</a:t>
            </a:r>
          </a:p>
        </p:txBody>
      </p:sp>
      <p:sp>
        <p:nvSpPr>
          <p:cNvPr id="4" name="Oval 3"/>
          <p:cNvSpPr/>
          <p:nvPr/>
        </p:nvSpPr>
        <p:spPr>
          <a:xfrm>
            <a:off x="502920" y="1243584"/>
            <a:ext cx="411480" cy="411480"/>
          </a:xfrm>
          <a:prstGeom prst="ellipse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" y="1188720"/>
            <a:ext cx="106344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Sidebar → Stores → Goods Receipt Notes.</a:t>
            </a:r>
          </a:p>
        </p:txBody>
      </p:sp>
      <p:sp>
        <p:nvSpPr>
          <p:cNvPr id="6" name="Oval 5"/>
          <p:cNvSpPr/>
          <p:nvPr/>
        </p:nvSpPr>
        <p:spPr>
          <a:xfrm>
            <a:off x="502920" y="1810512"/>
            <a:ext cx="411480" cy="411480"/>
          </a:xfrm>
          <a:prstGeom prst="ellipse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" y="1755648"/>
            <a:ext cx="106344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Filter by Status: pending_approval.</a:t>
            </a:r>
          </a:p>
        </p:txBody>
      </p:sp>
      <p:sp>
        <p:nvSpPr>
          <p:cNvPr id="8" name="Oval 7"/>
          <p:cNvSpPr/>
          <p:nvPr/>
        </p:nvSpPr>
        <p:spPr>
          <a:xfrm>
            <a:off x="502920" y="2377440"/>
            <a:ext cx="411480" cy="411480"/>
          </a:xfrm>
          <a:prstGeom prst="ellipse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" y="2322576"/>
            <a:ext cx="106344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Open a GRN. Note the Reference PR it relates to.</a:t>
            </a:r>
          </a:p>
        </p:txBody>
      </p:sp>
      <p:sp>
        <p:nvSpPr>
          <p:cNvPr id="10" name="Oval 9"/>
          <p:cNvSpPr/>
          <p:nvPr/>
        </p:nvSpPr>
        <p:spPr>
          <a:xfrm>
            <a:off x="502920" y="2944368"/>
            <a:ext cx="411480" cy="411480"/>
          </a:xfrm>
          <a:prstGeom prst="ellipse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2" y="2889504"/>
            <a:ext cx="106344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Compare Quantity Received against the PR's ordered quantities.</a:t>
            </a:r>
          </a:p>
        </p:txBody>
      </p:sp>
      <p:sp>
        <p:nvSpPr>
          <p:cNvPr id="12" name="Oval 11"/>
          <p:cNvSpPr/>
          <p:nvPr/>
        </p:nvSpPr>
        <p:spPr>
          <a:xfrm>
            <a:off x="502920" y="3511296"/>
            <a:ext cx="411480" cy="411480"/>
          </a:xfrm>
          <a:prstGeom prst="ellipse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" y="3456432"/>
            <a:ext cx="106344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Verify the supplier/vendor matches the one on the PR.</a:t>
            </a:r>
          </a:p>
        </p:txBody>
      </p:sp>
      <p:sp>
        <p:nvSpPr>
          <p:cNvPr id="14" name="Oval 13"/>
          <p:cNvSpPr/>
          <p:nvPr/>
        </p:nvSpPr>
        <p:spPr>
          <a:xfrm>
            <a:off x="502920" y="4078224"/>
            <a:ext cx="411480" cy="411480"/>
          </a:xfrm>
          <a:prstGeom prst="ellipse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" y="4023360"/>
            <a:ext cx="106344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Write a comment (e.g. 'Quantities verified against DN-2026-0154'), then click Approve.</a:t>
            </a:r>
          </a:p>
        </p:txBody>
      </p:sp>
      <p:sp>
        <p:nvSpPr>
          <p:cNvPr id="16" name="Oval 15"/>
          <p:cNvSpPr/>
          <p:nvPr/>
        </p:nvSpPr>
        <p:spPr>
          <a:xfrm>
            <a:off x="502920" y="4645152"/>
            <a:ext cx="411480" cy="411480"/>
          </a:xfrm>
          <a:prstGeom prst="ellipse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" y="4590288"/>
            <a:ext cx="106344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Stock becomes officially available in the Stock Register immediately.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311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Budgets &amp; FX Rates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188720"/>
            <a:ext cx="545439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B4A8A"/>
                </a:solidFill>
              </a:rPr>
              <a:t>Budgets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54480"/>
            <a:ext cx="5454396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Sidebar → Financial Planning → Budgets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Lists every dept with budget and spend-to-date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Click a dept → enter annual budget in ZMW → Save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Year-end: reset Spent to zero, set new year budget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NOTE: budget is a soft control — system does not auto-block overspend. You enforce it during approvals.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67044" y="1188720"/>
            <a:ext cx="27432" cy="5349240"/>
          </a:xfrm>
          <a:prstGeom prst="rect">
            <a:avLst/>
          </a:prstGeom>
          <a:solidFill>
            <a:srgbClr val="CCDD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31636" y="1188720"/>
            <a:ext cx="545439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B4A8A"/>
                </a:solidFill>
              </a:rPr>
              <a:t>FX Rates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31636" y="1554480"/>
            <a:ext cx="5454396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Sidebar → Financial Planning → FX Rates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Supported currencies: USD, EUR, GBP, ZAR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Click currency → enter ZMW rate → Save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Recommended cadence: update every Monday using Bank of Zambia mid-rate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Update ad-hoc if a rate moves by more than 2% mid-week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Document big movements in a comment for MD visibility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62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194560"/>
            <a:ext cx="1118311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FFFFFF"/>
                </a:solidFill>
              </a:rPr>
              <a:t>Refer to your role manual for full detail.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91840"/>
            <a:ext cx="111831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8AB4D8"/>
                </a:solidFill>
              </a:rPr>
              <a:t>Role 3 — Finance  ·  KSB Zambia Purchase Requisition System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